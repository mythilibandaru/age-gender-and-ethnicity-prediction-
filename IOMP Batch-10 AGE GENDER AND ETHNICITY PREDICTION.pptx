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76" r:id="rId7"/>
    <p:sldId id="277" r:id="rId8"/>
    <p:sldId id="278" r:id="rId9"/>
    <p:sldId id="279" r:id="rId10"/>
    <p:sldId id="284" r:id="rId11"/>
    <p:sldId id="285" r:id="rId12"/>
    <p:sldId id="281" r:id="rId13"/>
    <p:sldId id="272" r:id="rId14"/>
    <p:sldId id="283" r:id="rId15"/>
    <p:sldId id="286" r:id="rId16"/>
    <p:sldId id="287" r:id="rId17"/>
    <p:sldId id="282" r:id="rId18"/>
    <p:sldId id="273" r:id="rId19"/>
    <p:sldId id="288" r:id="rId20"/>
    <p:sldId id="289" r:id="rId21"/>
    <p:sldId id="291" r:id="rId22"/>
    <p:sldId id="290" r:id="rId23"/>
    <p:sldId id="274"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B61BEF0D-F0BB-DE4B-95CE-6DB70DBA9567}"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smtClean="0"/>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7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2992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899795" indent="-26987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60" indent="-23431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105" indent="-23431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27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4719" y="1702181"/>
            <a:ext cx="10993549" cy="1141075"/>
          </a:xfrm>
        </p:spPr>
        <p:txBody>
          <a:bodyPr>
            <a:noAutofit/>
          </a:bodyPr>
          <a:lstStyle/>
          <a:p>
            <a:r>
              <a:rPr lang="en-IN" sz="3200" dirty="0"/>
              <a:t>A</a:t>
            </a:r>
            <a:r>
              <a:rPr lang="en-US" altLang="en-IN" sz="3200" dirty="0"/>
              <a:t>ge gender and ethnicity prediction</a:t>
            </a:r>
            <a:endParaRPr lang="en-US" altLang="en-IN" sz="3200" dirty="0"/>
          </a:p>
        </p:txBody>
      </p:sp>
      <p:sp>
        <p:nvSpPr>
          <p:cNvPr id="3" name="Subtitle 2"/>
          <p:cNvSpPr>
            <a:spLocks noGrp="1"/>
          </p:cNvSpPr>
          <p:nvPr>
            <p:ph type="subTitle" idx="1"/>
          </p:nvPr>
        </p:nvSpPr>
        <p:spPr>
          <a:xfrm>
            <a:off x="599227" y="3237213"/>
            <a:ext cx="10993546" cy="463450"/>
          </a:xfrm>
        </p:spPr>
        <p:txBody>
          <a:bodyPr>
            <a:normAutofit/>
          </a:bodyPr>
          <a:lstStyle/>
          <a:p>
            <a:r>
              <a:rPr lang="en-IN" sz="1800" dirty="0">
                <a:solidFill>
                  <a:schemeClr val="accent5">
                    <a:lumMod val="75000"/>
                  </a:schemeClr>
                </a:solidFill>
              </a:rPr>
              <a:t>An Industry-Oriented Mini Project Report </a:t>
            </a:r>
            <a:endParaRPr lang="en-IN" sz="1800" dirty="0">
              <a:solidFill>
                <a:schemeClr val="accent5">
                  <a:lumMod val="75000"/>
                </a:schemeClr>
              </a:solidFill>
            </a:endParaRPr>
          </a:p>
        </p:txBody>
      </p:sp>
      <p:sp>
        <p:nvSpPr>
          <p:cNvPr id="4" name="Subtitle 2"/>
          <p:cNvSpPr txBox="1"/>
          <p:nvPr/>
        </p:nvSpPr>
        <p:spPr>
          <a:xfrm>
            <a:off x="735330" y="3700780"/>
            <a:ext cx="10739120" cy="2918460"/>
          </a:xfrm>
          <a:prstGeom prst="rect">
            <a:avLst/>
          </a:prstGeom>
        </p:spPr>
        <p:txBody>
          <a:bodyPr vert="horz" lIns="91440" tIns="45720" rIns="91440" bIns="45720" rtlCol="0" anchor="t">
            <a:noAutofit/>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cap="all">
                <a:solidFill>
                  <a:schemeClr val="accent2"/>
                </a:solidFill>
                <a:latin typeface="+mn-lt"/>
                <a:ea typeface="+mn-ea"/>
                <a:cs typeface="+mn-cs"/>
              </a:defRPr>
            </a:lvl1pPr>
            <a:lvl2pPr marL="457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r>
              <a:rPr lang="en-US" sz="2000">
                <a:solidFill>
                  <a:schemeClr val="bg1"/>
                </a:solidFill>
                <a:sym typeface="+mn-ea"/>
              </a:rPr>
              <a:t>Batch - 10</a:t>
            </a:r>
            <a:endParaRPr lang="en-US" sz="2000">
              <a:solidFill>
                <a:schemeClr val="bg1"/>
              </a:solidFill>
            </a:endParaRPr>
          </a:p>
          <a:p>
            <a:r>
              <a:rPr lang="en-US" sz="2000">
                <a:solidFill>
                  <a:schemeClr val="bg1"/>
                </a:solidFill>
              </a:rPr>
              <a:t>UNDER THE GUIDANCE OF : MRS.A.TEJASWI</a:t>
            </a:r>
            <a:endParaRPr lang="en-US" sz="2000">
              <a:solidFill>
                <a:schemeClr val="bg1"/>
              </a:solidFill>
            </a:endParaRPr>
          </a:p>
          <a:p>
            <a:r>
              <a:rPr lang="en-US" sz="2000">
                <a:solidFill>
                  <a:schemeClr val="bg1"/>
                </a:solidFill>
                <a:sym typeface="+mn-ea"/>
              </a:rPr>
              <a:t>23R01A05K7</a:t>
            </a:r>
            <a:endParaRPr lang="en-US" sz="2000">
              <a:solidFill>
                <a:schemeClr val="bg1"/>
              </a:solidFill>
            </a:endParaRPr>
          </a:p>
          <a:p>
            <a:r>
              <a:rPr lang="en-US" sz="2000">
                <a:solidFill>
                  <a:schemeClr val="bg1"/>
                </a:solidFill>
                <a:sym typeface="+mn-ea"/>
              </a:rPr>
              <a:t>23R01A05L2</a:t>
            </a:r>
            <a:endParaRPr lang="en-US" sz="2000">
              <a:solidFill>
                <a:schemeClr val="bg1"/>
              </a:solidFill>
            </a:endParaRPr>
          </a:p>
          <a:p>
            <a:r>
              <a:rPr lang="en-US" sz="2000">
                <a:solidFill>
                  <a:schemeClr val="bg1"/>
                </a:solidFill>
                <a:sym typeface="+mn-ea"/>
              </a:rPr>
              <a:t>23R01A05P1</a:t>
            </a:r>
            <a:endParaRPr lang="en-US" sz="2000">
              <a:solidFill>
                <a:schemeClr val="bg1"/>
              </a:solidFill>
            </a:endParaRPr>
          </a:p>
          <a:p>
            <a:endParaRPr lang="en-US" sz="2000">
              <a:solidFill>
                <a:schemeClr val="bg1"/>
              </a:solidFill>
            </a:endParaRPr>
          </a:p>
          <a:p>
            <a:endParaRPr lang="en-US" sz="2000" dirty="0">
              <a:solidFill>
                <a:schemeClr val="bg1"/>
              </a:solidFill>
            </a:endParaRPr>
          </a:p>
        </p:txBody>
      </p:sp>
      <p:sp>
        <p:nvSpPr>
          <p:cNvPr id="5" name="Subtitle 2"/>
          <p:cNvSpPr txBox="1"/>
          <p:nvPr/>
        </p:nvSpPr>
        <p:spPr>
          <a:xfrm>
            <a:off x="2093478" y="828526"/>
            <a:ext cx="8291540" cy="1141075"/>
          </a:xfrm>
          <a:prstGeom prst="rect">
            <a:avLst/>
          </a:prstGeom>
        </p:spPr>
        <p:txBody>
          <a:bodyPr vert="horz" lIns="91440" tIns="45720" rIns="91440" bIns="45720" rtlCol="0" anchor="t">
            <a:normAutofit fontScale="92500"/>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cap="all">
                <a:solidFill>
                  <a:schemeClr val="accent2"/>
                </a:solidFill>
                <a:latin typeface="+mn-lt"/>
                <a:ea typeface="+mn-ea"/>
                <a:cs typeface="+mn-cs"/>
              </a:defRPr>
            </a:lvl1pPr>
            <a:lvl2pPr marL="457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r>
              <a:rPr lang="en-IN" sz="1800" dirty="0" err="1"/>
              <a:t>Cmr</a:t>
            </a:r>
            <a:r>
              <a:rPr lang="en-IN" sz="1800" dirty="0"/>
              <a:t> institute of technology</a:t>
            </a:r>
            <a:endParaRPr lang="en-IN" sz="1800" dirty="0"/>
          </a:p>
          <a:p>
            <a:r>
              <a:rPr lang="en-IN" dirty="0"/>
              <a:t>(UGC AUTONOMUS</a:t>
            </a:r>
            <a:r>
              <a:rPr lang="en-IN"/>
              <a:t>,  Approved </a:t>
            </a:r>
            <a:r>
              <a:rPr lang="en-IN" dirty="0"/>
              <a:t>by AICTE, New </a:t>
            </a:r>
            <a:r>
              <a:rPr lang="en-IN"/>
              <a:t>Delhi &amp; Affiliated </a:t>
            </a:r>
            <a:r>
              <a:rPr lang="en-IN" dirty="0"/>
              <a:t>to JNTUH, Hyderabad)</a:t>
            </a:r>
            <a:endParaRPr lang="en-IN" dirty="0"/>
          </a:p>
          <a:p>
            <a:r>
              <a:rPr lang="en-IN" dirty="0" err="1"/>
              <a:t>Kandlakoya</a:t>
            </a:r>
            <a:r>
              <a:rPr lang="en-IN" dirty="0"/>
              <a:t>, </a:t>
            </a:r>
            <a:r>
              <a:rPr lang="en-IN" dirty="0" err="1"/>
              <a:t>Medchal</a:t>
            </a:r>
            <a:r>
              <a:rPr lang="en-IN" dirty="0"/>
              <a:t> Road, Hyderabad, Telangana – 501401.</a:t>
            </a:r>
            <a:endParaRPr lang="en-IN" dirty="0"/>
          </a:p>
          <a:p>
            <a:endParaRPr lang="en-IN" sz="1800"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599227" y="593973"/>
            <a:ext cx="1375628" cy="1375628"/>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000" dirty="0"/>
              <a:t>CONTENTS</a:t>
            </a:r>
            <a:endParaRPr lang="en-IN" sz="6000" dirty="0"/>
          </a:p>
        </p:txBody>
      </p:sp>
      <p:sp>
        <p:nvSpPr>
          <p:cNvPr id="4" name="Content Placeholder 2"/>
          <p:cNvSpPr>
            <a:spLocks noGrp="1"/>
          </p:cNvSpPr>
          <p:nvPr>
            <p:ph idx="1"/>
          </p:nvPr>
        </p:nvSpPr>
        <p:spPr>
          <a:xfrm>
            <a:off x="581025" y="2181225"/>
            <a:ext cx="5514975" cy="3678238"/>
          </a:xfrm>
        </p:spPr>
        <p:txBody>
          <a:bodyPr>
            <a:normAutofit lnSpcReduction="20000"/>
          </a:bodyPr>
          <a:lstStyle/>
          <a:p>
            <a:r>
              <a:rPr lang="en-US" sz="2800" dirty="0"/>
              <a:t>ABSTRACT</a:t>
            </a:r>
            <a:endParaRPr lang="en-US" sz="2800" dirty="0"/>
          </a:p>
          <a:p>
            <a:r>
              <a:rPr lang="en-US" sz="2800" dirty="0"/>
              <a:t>INTRODUCTION</a:t>
            </a:r>
            <a:endParaRPr lang="en-US" sz="2800" dirty="0"/>
          </a:p>
          <a:p>
            <a:r>
              <a:rPr lang="en-US" sz="2800" dirty="0"/>
              <a:t>LITERATURE SURVEY</a:t>
            </a:r>
            <a:endParaRPr lang="en-US" sz="2800" dirty="0"/>
          </a:p>
          <a:p>
            <a:r>
              <a:rPr lang="en-US" sz="2800" dirty="0"/>
              <a:t>SYSTEM ANALYSIS</a:t>
            </a:r>
            <a:endParaRPr lang="en-US" sz="2800" dirty="0"/>
          </a:p>
          <a:p>
            <a:r>
              <a:rPr lang="en-US" sz="2800" dirty="0"/>
              <a:t>SYSTEM STUDY</a:t>
            </a:r>
            <a:endParaRPr lang="en-US" sz="2800" dirty="0"/>
          </a:p>
          <a:p>
            <a:r>
              <a:rPr lang="en-US" sz="2800" dirty="0"/>
              <a:t>HARDWARE AND SOFTWARE REQUIREMENTS</a:t>
            </a:r>
            <a:endParaRPr lang="en-US" sz="2800" dirty="0"/>
          </a:p>
          <a:p>
            <a:endParaRPr lang="en-IN" sz="2800" dirty="0"/>
          </a:p>
        </p:txBody>
      </p:sp>
      <p:sp>
        <p:nvSpPr>
          <p:cNvPr id="5" name="Content Placeholder 2"/>
          <p:cNvSpPr txBox="1"/>
          <p:nvPr/>
        </p:nvSpPr>
        <p:spPr>
          <a:xfrm>
            <a:off x="6096000" y="1891739"/>
            <a:ext cx="5514808" cy="3678303"/>
          </a:xfrm>
          <a:prstGeom prst="rect">
            <a:avLst/>
          </a:prstGeom>
        </p:spPr>
        <p:txBody>
          <a:bodyPr vert="horz" lIns="91440" tIns="45720" rIns="91440" bIns="45720" rtlCol="0" anchor="ctr">
            <a:normAutofit/>
          </a:bodyPr>
          <a:lstStyle>
            <a:lvl1pPr marL="30607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2992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899795" indent="-26987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60" indent="-23431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105" indent="-23431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27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2800" dirty="0"/>
              <a:t>ARCHITECTURE</a:t>
            </a:r>
            <a:endParaRPr lang="en-US" sz="2800" dirty="0"/>
          </a:p>
          <a:p>
            <a:r>
              <a:rPr lang="en-US" sz="2800" dirty="0"/>
              <a:t>MODULES</a:t>
            </a:r>
            <a:endParaRPr lang="en-US" sz="2800" dirty="0"/>
          </a:p>
          <a:p>
            <a:r>
              <a:rPr lang="en-US" sz="2800" dirty="0"/>
              <a:t>IMPLEMENTATION</a:t>
            </a:r>
            <a:endParaRPr lang="en-US" sz="2800" dirty="0"/>
          </a:p>
          <a:p>
            <a:r>
              <a:rPr lang="en-US" sz="2800" dirty="0"/>
              <a:t>SCREENSHOTS</a:t>
            </a:r>
            <a:endParaRPr lang="en-US" sz="2800" dirty="0"/>
          </a:p>
          <a:p>
            <a:r>
              <a:rPr lang="en-US" sz="2800" dirty="0"/>
              <a:t>TESTING</a:t>
            </a:r>
            <a:endParaRPr lang="en-US" sz="2800" dirty="0"/>
          </a:p>
          <a:p>
            <a:r>
              <a:rPr lang="en-US" altLang="en-IN" sz="2800" dirty="0"/>
              <a:t>CONCLUSION</a:t>
            </a:r>
            <a:endParaRPr lang="en-US" alt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000" dirty="0"/>
              <a:t>ABSTRACT</a:t>
            </a:r>
            <a:endParaRPr lang="en-IN" sz="6000" dirty="0"/>
          </a:p>
        </p:txBody>
      </p:sp>
      <p:sp>
        <p:nvSpPr>
          <p:cNvPr id="3" name="Content Placeholder 2"/>
          <p:cNvSpPr>
            <a:spLocks noGrp="1"/>
          </p:cNvSpPr>
          <p:nvPr>
            <p:ph idx="1"/>
          </p:nvPr>
        </p:nvSpPr>
        <p:spPr>
          <a:xfrm>
            <a:off x="581192" y="2441481"/>
            <a:ext cx="11029615" cy="3678303"/>
          </a:xfrm>
        </p:spPr>
        <p:txBody>
          <a:bodyPr>
            <a:noAutofit/>
          </a:bodyPr>
          <a:lstStyle/>
          <a:p>
            <a:r>
              <a:rPr lang="en-US" altLang="en-US" sz="2300" dirty="0"/>
              <a:t>This project focuses on the development of a system for predicting age, gender, and ethnicity from facial images using Artificial Intelligence and Computer Vision techniques. The system utilizes deep learning, specifically a Convolutional Neural Network (CNN), to automatically analyze facial features and generate accurate predictions.</a:t>
            </a:r>
            <a:endParaRPr lang="en-US" altLang="en-US" sz="2300" dirty="0"/>
          </a:p>
          <a:p>
            <a:endParaRPr lang="en-US" altLang="en-US" sz="2300" dirty="0"/>
          </a:p>
          <a:p>
            <a:r>
              <a:rPr lang="en-US" altLang="en-US" sz="2300" dirty="0"/>
              <a:t>The process begins with collecting a labeled dataset of facial images, followed by preprocessing steps such as face detection, resizing, and normalization to improve data quality. The processed images are then used to train the CNN model, which learns important patterns and features from the data. During testing, the trained model takes new facial images as input and predicts the corresponding age, gender, and ethnicity.</a:t>
            </a:r>
            <a:endParaRPr lang="en-US" altLang="en-US" sz="2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a:t>INTRODUCTION</a:t>
            </a:r>
            <a:endParaRPr lang="en-IN" sz="5400" dirty="0"/>
          </a:p>
        </p:txBody>
      </p:sp>
      <p:sp>
        <p:nvSpPr>
          <p:cNvPr id="3" name="Content Placeholder 2"/>
          <p:cNvSpPr>
            <a:spLocks noGrp="1"/>
          </p:cNvSpPr>
          <p:nvPr>
            <p:ph idx="1"/>
          </p:nvPr>
        </p:nvSpPr>
        <p:spPr>
          <a:xfrm>
            <a:off x="581192" y="1957136"/>
            <a:ext cx="11029615" cy="4668253"/>
          </a:xfrm>
        </p:spPr>
        <p:txBody>
          <a:bodyPr>
            <a:normAutofit/>
          </a:bodyPr>
          <a:lstStyle/>
          <a:p>
            <a:r>
              <a:rPr lang="en-US" altLang="en-US" sz="2800">
                <a:sym typeface="+mn-ea"/>
              </a:rPr>
              <a:t>Advancements in Artificial Intelligence and Computer Vision have made it possible for machines to analyze facial images and predict attributes such as age, gender, and ethnicity. Using deep learning techniques, systems can learn patterns from large datasets to perform these predictions accurately. This project focuses on building a model for demographic prediction while considering challenges like accuracy, bias, and privacy</a:t>
            </a: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IN" sz="5400" dirty="0"/>
              <a:t>LITERATURE SURVEY</a:t>
            </a:r>
            <a:endParaRPr lang="en-US" altLang="en-IN" sz="5400" dirty="0"/>
          </a:p>
        </p:txBody>
      </p:sp>
      <p:pic>
        <p:nvPicPr>
          <p:cNvPr id="9" name="Content Placeholder 8" descr="Table of facial prediction research studies"/>
          <p:cNvPicPr>
            <a:picLocks noChangeAspect="1"/>
          </p:cNvPicPr>
          <p:nvPr>
            <p:ph idx="1"/>
          </p:nvPr>
        </p:nvPicPr>
        <p:blipFill>
          <a:blip r:embed="rId1"/>
          <a:stretch>
            <a:fillRect/>
          </a:stretch>
        </p:blipFill>
        <p:spPr>
          <a:xfrm>
            <a:off x="185420" y="1909445"/>
            <a:ext cx="11426190" cy="494919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IN" sz="5400" dirty="0"/>
              <a:t>SYSTEM ANALYSIS</a:t>
            </a:r>
            <a:endParaRPr lang="en-US" altLang="en-IN" sz="5400" dirty="0"/>
          </a:p>
        </p:txBody>
      </p:sp>
      <p:sp>
        <p:nvSpPr>
          <p:cNvPr id="3" name="Content Placeholder 2"/>
          <p:cNvSpPr/>
          <p:nvPr>
            <p:ph idx="1"/>
          </p:nvPr>
        </p:nvSpPr>
        <p:spPr/>
        <p:txBody>
          <a:bodyPr/>
          <a:p>
            <a:r>
              <a:rPr lang="en-US" altLang="en-US" sz="2800">
                <a:solidFill>
                  <a:srgbClr val="000000"/>
                </a:solidFill>
                <a:ea typeface="SimSun" panose="02010600030101010101" pitchFamily="2" charset="-122"/>
                <a:cs typeface="+mn-lt"/>
                <a:sym typeface="+mn-ea"/>
              </a:rPr>
              <a:t>The system is designed to predict age, gender, and ethnicity from facial images using Artificial Intelligence and Computer Vision techniques. It takes an image as input, performs preprocessing such as face detection and normalization, and uses a deep learning model to generate predictions. The system aims to provide accurate and efficient results, but its performance depends on the quality of data and may be affected by factors like lighting, image clarity, and dataset bias.</a:t>
            </a:r>
            <a:endParaRPr lang="en-US" altLang="en-US" sz="2800">
              <a:cs typeface="+mn-lt"/>
            </a:endParaRPr>
          </a:p>
          <a:p>
            <a:endParaRPr lang="en-US">
              <a:cs typeface="+mn-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1957136"/>
            <a:ext cx="11029615" cy="4668253"/>
          </a:xfrm>
        </p:spPr>
        <p:txBody>
          <a:bodyPr>
            <a:normAutofit/>
          </a:bodyPr>
          <a:lstStyle/>
          <a:p>
            <a:r>
              <a:rPr lang="en-US" altLang="en-US" sz="2800">
                <a:sym typeface="+mn-ea"/>
              </a:rPr>
              <a:t>Input: Facial image</a:t>
            </a:r>
            <a:endParaRPr lang="en-US" altLang="en-US" sz="2800"/>
          </a:p>
          <a:p>
            <a:r>
              <a:rPr lang="en-US" altLang="en-US" sz="2800">
                <a:sym typeface="+mn-ea"/>
              </a:rPr>
              <a:t>Preprocessing: Face detection, resizing, normalization</a:t>
            </a:r>
            <a:endParaRPr lang="en-US" altLang="en-US" sz="2800"/>
          </a:p>
          <a:p>
            <a:r>
              <a:rPr lang="en-US" altLang="en-US" sz="2800">
                <a:sym typeface="+mn-ea"/>
              </a:rPr>
              <a:t>Model: CNN-based deep learning model</a:t>
            </a:r>
            <a:endParaRPr lang="en-US" altLang="en-US" sz="2800"/>
          </a:p>
          <a:p>
            <a:r>
              <a:rPr lang="en-US" altLang="en-US" sz="2800">
                <a:sym typeface="+mn-ea"/>
              </a:rPr>
              <a:t>Output: Predicted age, gender, and ethnicity</a:t>
            </a:r>
            <a:endParaRPr lang="en-US" altLang="en-US" sz="2800"/>
          </a:p>
          <a:p>
            <a:r>
              <a:rPr lang="en-US" altLang="en-US" sz="2800">
                <a:sym typeface="+mn-ea"/>
              </a:rPr>
              <a:t>Requirements: Large labeled dataset, trained model</a:t>
            </a:r>
            <a:endParaRPr lang="en-US" altLang="en-US" sz="2800"/>
          </a:p>
          <a:p>
            <a:r>
              <a:rPr lang="en-US" altLang="en-US" sz="2800">
                <a:sym typeface="+mn-ea"/>
              </a:rPr>
              <a:t>Constraints: Image quality, lighting conditions, dataset bias</a:t>
            </a:r>
            <a:endParaRPr lang="en-US" altLang="en-US" sz="2800"/>
          </a:p>
          <a:p>
            <a:r>
              <a:rPr lang="en-US" altLang="en-US" sz="2800">
                <a:sym typeface="+mn-ea"/>
              </a:rPr>
              <a:t>Goal: Accurate and fast prediction system</a:t>
            </a:r>
            <a:endParaRPr lang="en-US" sz="2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a:t> SYSTEM STUDY</a:t>
            </a:r>
            <a:endParaRPr lang="en-IN" sz="5400" dirty="0"/>
          </a:p>
        </p:txBody>
      </p:sp>
      <p:sp>
        <p:nvSpPr>
          <p:cNvPr id="3" name="Content Placeholder 2"/>
          <p:cNvSpPr>
            <a:spLocks noGrp="1"/>
          </p:cNvSpPr>
          <p:nvPr>
            <p:ph idx="1"/>
          </p:nvPr>
        </p:nvSpPr>
        <p:spPr>
          <a:xfrm>
            <a:off x="581192" y="1957136"/>
            <a:ext cx="11029615" cy="4668253"/>
          </a:xfrm>
        </p:spPr>
        <p:txBody>
          <a:bodyPr>
            <a:normAutofit/>
          </a:bodyPr>
          <a:lstStyle/>
          <a:p>
            <a:r>
              <a:rPr lang="en-US" altLang="en-US" sz="2400">
                <a:sym typeface="+mn-ea"/>
              </a:rPr>
              <a:t>Understanding the existing system and concepts.The system study focuses on understanding how demographic prediction can be performed using Artificial Intelligence and Computer Vision. It analyzes the process of collecting facial image data, preprocessing it, and applying deep learning models for prediction. The study also examines existing methods, tools, and datasets used for age, gender, and ethnicity prediction, along with their advantages and limitations. This helps in designing an efficient system that provides accurate results while addressing challenges like bias and data quality.Initial stage of the project.</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025" y="687705"/>
            <a:ext cx="11029315" cy="866140"/>
          </a:xfrm>
        </p:spPr>
        <p:txBody>
          <a:bodyPr>
            <a:normAutofit fontScale="90000"/>
          </a:bodyPr>
          <a:lstStyle/>
          <a:p>
            <a:r>
              <a:rPr lang="en-US" altLang="en-IN" sz="4445" dirty="0"/>
              <a:t>HARDWARE AND SOFTWARE REQUIREMENTS</a:t>
            </a:r>
            <a:endParaRPr lang="en-US" altLang="en-IN" sz="4445" dirty="0"/>
          </a:p>
        </p:txBody>
      </p:sp>
      <p:sp>
        <p:nvSpPr>
          <p:cNvPr id="3" name="Content Placeholder 2"/>
          <p:cNvSpPr>
            <a:spLocks noGrp="1"/>
          </p:cNvSpPr>
          <p:nvPr>
            <p:ph idx="1"/>
          </p:nvPr>
        </p:nvSpPr>
        <p:spPr>
          <a:xfrm>
            <a:off x="581192" y="1957136"/>
            <a:ext cx="11029615" cy="4668253"/>
          </a:xfrm>
        </p:spPr>
        <p:txBody>
          <a:bodyPr>
            <a:normAutofit/>
          </a:bodyPr>
          <a:lstStyle/>
          <a:p>
            <a:pPr marL="0" indent="0">
              <a:buNone/>
            </a:pPr>
            <a:r>
              <a:rPr lang="en-US" altLang="en-US" sz="2800" b="1">
                <a:sym typeface="+mn-ea"/>
              </a:rPr>
              <a:t>Hardware Requirements</a:t>
            </a:r>
            <a:endParaRPr lang="en-US" altLang="en-US" sz="2800" b="1">
              <a:sym typeface="+mn-ea"/>
            </a:endParaRPr>
          </a:p>
          <a:p>
            <a:pPr marL="0" indent="0">
              <a:buNone/>
            </a:pPr>
            <a:r>
              <a:rPr lang="en-US" altLang="en-US" sz="2800">
                <a:sym typeface="+mn-ea"/>
              </a:rPr>
              <a:t>Computer/Laptop with good processing power</a:t>
            </a:r>
            <a:endParaRPr lang="en-US" altLang="en-US" sz="2800"/>
          </a:p>
          <a:p>
            <a:r>
              <a:rPr lang="en-US" altLang="en-US" sz="2800">
                <a:sym typeface="+mn-ea"/>
              </a:rPr>
              <a:t>Minimum 4GB–8GB RAM</a:t>
            </a:r>
            <a:endParaRPr lang="en-US" altLang="en-US" sz="2800"/>
          </a:p>
          <a:p>
            <a:r>
              <a:rPr lang="en-US" altLang="en-US" sz="2800">
                <a:sym typeface="+mn-ea"/>
              </a:rPr>
              <a:t>Storage (HDD/SSD) for datasets and models</a:t>
            </a:r>
            <a:endParaRPr lang="en-US" altLang="en-US" sz="2800"/>
          </a:p>
          <a:p>
            <a:r>
              <a:rPr lang="en-US" altLang="en-US" sz="2800">
                <a:sym typeface="+mn-ea"/>
              </a:rPr>
              <a:t>GPU (optional, for faster training)</a:t>
            </a:r>
            <a:endParaRPr lang="en-US" altLang="en-US" sz="2800"/>
          </a:p>
          <a:p>
            <a:r>
              <a:rPr lang="en-US" altLang="en-US" sz="2800">
                <a:sym typeface="+mn-ea"/>
              </a:rPr>
              <a:t>Camera (optional, for real-time input)</a:t>
            </a:r>
            <a:endParaRPr lang="en-US"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926465" y="2294890"/>
            <a:ext cx="10504170" cy="3291840"/>
          </a:xfrm>
          <a:prstGeom prst="rect">
            <a:avLst/>
          </a:prstGeom>
          <a:noFill/>
        </p:spPr>
        <p:txBody>
          <a:bodyPr wrap="square" rtlCol="0">
            <a:spAutoFit/>
          </a:bodyPr>
          <a:p>
            <a:pPr algn="l" fontAlgn="base">
              <a:spcBef>
                <a:spcPct val="20000"/>
              </a:spcBef>
              <a:buNone/>
            </a:pPr>
            <a:r>
              <a:rPr lang="en-US" sz="3200" b="1">
                <a:solidFill>
                  <a:srgbClr val="000000"/>
                </a:solidFill>
                <a:ea typeface="SimSun" panose="02010600030101010101" pitchFamily="2" charset="-122"/>
                <a:cs typeface="+mn-lt"/>
                <a:sym typeface="+mn-ea"/>
              </a:rPr>
              <a:t>Software Requirements</a:t>
            </a:r>
            <a:endParaRPr lang="en-US" b="1">
              <a:cs typeface="+mn-lt"/>
            </a:endParaRPr>
          </a:p>
          <a:p>
            <a:endParaRPr lang="en-US" b="1">
              <a:cs typeface="+mn-lt"/>
            </a:endParaRPr>
          </a:p>
          <a:p>
            <a:r>
              <a:rPr lang="en-US" altLang="en-US" sz="2800">
                <a:solidFill>
                  <a:srgbClr val="000000"/>
                </a:solidFill>
                <a:ea typeface="SimSun" panose="02010600030101010101" pitchFamily="2" charset="-122"/>
                <a:cs typeface="+mn-lt"/>
                <a:sym typeface="+mn-ea"/>
              </a:rPr>
              <a:t>Programming Language: Python</a:t>
            </a:r>
            <a:endParaRPr lang="en-US" altLang="en-US" sz="2800">
              <a:cs typeface="+mn-lt"/>
            </a:endParaRPr>
          </a:p>
          <a:p>
            <a:r>
              <a:rPr lang="en-US" altLang="en-US" sz="2800">
                <a:solidFill>
                  <a:srgbClr val="000000"/>
                </a:solidFill>
                <a:ea typeface="SimSun" panose="02010600030101010101" pitchFamily="2" charset="-122"/>
                <a:cs typeface="+mn-lt"/>
                <a:sym typeface="+mn-ea"/>
              </a:rPr>
              <a:t>Libraries: TensorFlow / Keras / PyTorch</a:t>
            </a:r>
            <a:endParaRPr lang="en-US" altLang="en-US" sz="2800">
              <a:cs typeface="+mn-lt"/>
            </a:endParaRPr>
          </a:p>
          <a:p>
            <a:r>
              <a:rPr lang="en-US" altLang="en-US" sz="2800">
                <a:solidFill>
                  <a:srgbClr val="000000"/>
                </a:solidFill>
                <a:ea typeface="SimSun" panose="02010600030101010101" pitchFamily="2" charset="-122"/>
                <a:cs typeface="+mn-lt"/>
                <a:sym typeface="+mn-ea"/>
              </a:rPr>
              <a:t>Image Processing: OpenCV</a:t>
            </a:r>
            <a:endParaRPr lang="en-US" altLang="en-US" sz="2800">
              <a:cs typeface="+mn-lt"/>
            </a:endParaRPr>
          </a:p>
          <a:p>
            <a:r>
              <a:rPr lang="en-US" altLang="en-US" sz="2800">
                <a:solidFill>
                  <a:srgbClr val="000000"/>
                </a:solidFill>
                <a:ea typeface="SimSun" panose="02010600030101010101" pitchFamily="2" charset="-122"/>
                <a:cs typeface="+mn-lt"/>
                <a:sym typeface="+mn-ea"/>
              </a:rPr>
              <a:t>IDE: Jupyter Notebook / VS Code</a:t>
            </a:r>
            <a:endParaRPr lang="en-US" altLang="en-US" sz="2800">
              <a:cs typeface="+mn-lt"/>
            </a:endParaRPr>
          </a:p>
          <a:p>
            <a:r>
              <a:rPr lang="en-US" altLang="en-US" sz="2800">
                <a:solidFill>
                  <a:srgbClr val="000000"/>
                </a:solidFill>
                <a:ea typeface="SimSun" panose="02010600030101010101" pitchFamily="2" charset="-122"/>
                <a:cs typeface="+mn-lt"/>
                <a:sym typeface="+mn-ea"/>
              </a:rPr>
              <a:t>Concepts based on Artificial Intelligence and Computer Vision</a:t>
            </a:r>
            <a:endParaRPr lang="en-US" altLang="en-US" sz="2800">
              <a:cs typeface="+mn-lt"/>
            </a:endParaRPr>
          </a:p>
          <a:p>
            <a:endParaRPr lang="en-US">
              <a:cs typeface="+mn-l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IN" sz="5400" dirty="0"/>
              <a:t>ARCHITECTURE DIAGRAM</a:t>
            </a:r>
            <a:endParaRPr lang="en-US" altLang="en-IN" sz="5400" dirty="0"/>
          </a:p>
        </p:txBody>
      </p:sp>
      <p:pic>
        <p:nvPicPr>
          <p:cNvPr id="3" name="Content Placeholder 3" descr="Age, gender, and ethnicity prediction flowchart"/>
          <p:cNvPicPr>
            <a:picLocks noChangeAspect="1"/>
          </p:cNvPicPr>
          <p:nvPr>
            <p:ph idx="1"/>
          </p:nvPr>
        </p:nvPicPr>
        <p:blipFill>
          <a:blip r:embed="rId1"/>
          <a:stretch>
            <a:fillRect/>
          </a:stretch>
        </p:blipFill>
        <p:spPr>
          <a:xfrm>
            <a:off x="2339975" y="1929130"/>
            <a:ext cx="7146290" cy="4764405"/>
          </a:xfrm>
          <a:prstGeom prst="rect">
            <a:avLst/>
          </a:prstGeom>
          <a:noFill/>
          <a:ln w="9525">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1504950" y="2167255"/>
            <a:ext cx="8950960" cy="3123565"/>
          </a:xfrm>
          <a:prstGeom prst="rect">
            <a:avLst/>
          </a:prstGeom>
          <a:noFill/>
        </p:spPr>
        <p:txBody>
          <a:bodyPr wrap="square" rtlCol="0" anchor="t">
            <a:noAutofit/>
          </a:bodyPr>
          <a:p>
            <a:r>
              <a:rPr lang="en-US" altLang="en-US" sz="2800">
                <a:sym typeface="+mn-ea"/>
              </a:rPr>
              <a:t>In this system, multiple images are first used to train a model using techniques from Artificial Intelligence and Computer Vision.</a:t>
            </a:r>
            <a:endParaRPr lang="en-US" altLang="en-US" sz="2800">
              <a:sym typeface="+mn-ea"/>
            </a:endParaRPr>
          </a:p>
          <a:p>
            <a:r>
              <a:rPr lang="en-US" altLang="en-US" sz="2800">
                <a:sym typeface="+mn-ea"/>
              </a:rPr>
              <a:t> nce trained, the model processes input images one by one. Each image is preprocessed, analyzed, and passed through the trained model to predict age, gender, and ethnicity (region). The results are then displayed as output.</a:t>
            </a:r>
            <a:endParaRPr lang="en-US" altLang="en-US" sz="2800">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IN" sz="5400" dirty="0"/>
              <a:t>MODULES</a:t>
            </a:r>
            <a:endParaRPr lang="en-US" altLang="en-IN" sz="5400" dirty="0"/>
          </a:p>
        </p:txBody>
      </p:sp>
      <p:sp>
        <p:nvSpPr>
          <p:cNvPr id="3" name="Text Box 2"/>
          <p:cNvSpPr txBox="1"/>
          <p:nvPr/>
        </p:nvSpPr>
        <p:spPr>
          <a:xfrm>
            <a:off x="462915" y="2038985"/>
            <a:ext cx="9559290" cy="4074160"/>
          </a:xfrm>
          <a:prstGeom prst="rect">
            <a:avLst/>
          </a:prstGeom>
          <a:noFill/>
        </p:spPr>
        <p:txBody>
          <a:bodyPr wrap="square" rtlCol="0" anchor="t">
            <a:noAutofit/>
          </a:bodyPr>
          <a:p>
            <a:pPr marL="0" indent="0">
              <a:buNone/>
            </a:pPr>
            <a:r>
              <a:rPr lang="en-US" altLang="en-US" sz="2000" b="1">
                <a:sym typeface="+mn-ea"/>
              </a:rPr>
              <a:t>Data Collection Module</a:t>
            </a:r>
            <a:endParaRPr lang="en-US" altLang="en-US" sz="2000" b="1"/>
          </a:p>
          <a:p>
            <a:pPr marL="0" indent="0">
              <a:buNone/>
            </a:pPr>
            <a:r>
              <a:rPr lang="en-US" altLang="en-US" sz="2000">
                <a:sym typeface="+mn-ea"/>
              </a:rPr>
              <a:t>     Collects facial image datasets with age, gender, and ethnicity labels.</a:t>
            </a:r>
            <a:endParaRPr lang="en-US" altLang="en-US" sz="2000"/>
          </a:p>
          <a:p>
            <a:pPr marL="0" indent="0">
              <a:buNone/>
            </a:pPr>
            <a:r>
              <a:rPr lang="en-US" altLang="en-US" sz="2000" b="1">
                <a:sym typeface="+mn-ea"/>
              </a:rPr>
              <a:t>Preprocessing Module</a:t>
            </a:r>
            <a:endParaRPr lang="en-US" altLang="en-US" sz="2000" b="1"/>
          </a:p>
          <a:p>
            <a:pPr marL="0" indent="0">
              <a:buNone/>
            </a:pPr>
            <a:r>
              <a:rPr lang="en-US" altLang="en-US" sz="2000">
                <a:sym typeface="+mn-ea"/>
              </a:rPr>
              <a:t>     Performs image resizing, normalization, and face detection.</a:t>
            </a:r>
            <a:endParaRPr lang="en-US" altLang="en-US" sz="2000"/>
          </a:p>
          <a:p>
            <a:pPr marL="0" indent="0">
              <a:buNone/>
            </a:pPr>
            <a:r>
              <a:rPr lang="en-US" altLang="en-US" sz="2000" b="1">
                <a:sym typeface="+mn-ea"/>
              </a:rPr>
              <a:t>Model Training Module</a:t>
            </a:r>
            <a:endParaRPr lang="en-US" altLang="en-US" sz="2000" b="1"/>
          </a:p>
          <a:p>
            <a:pPr marL="0" indent="0">
              <a:buNone/>
            </a:pPr>
            <a:r>
              <a:rPr lang="en-US" altLang="en-US" sz="2000" b="1">
                <a:sym typeface="+mn-ea"/>
              </a:rPr>
              <a:t>     </a:t>
            </a:r>
            <a:r>
              <a:rPr lang="en-US" altLang="en-US" sz="2000">
                <a:sym typeface="+mn-ea"/>
              </a:rPr>
              <a:t>Trains a CNN model using the dataset to learn facial features.</a:t>
            </a:r>
            <a:endParaRPr lang="en-US" altLang="en-US" sz="2000"/>
          </a:p>
          <a:p>
            <a:pPr marL="0" indent="0">
              <a:buNone/>
            </a:pPr>
            <a:r>
              <a:rPr lang="en-US" altLang="en-US" sz="2000" b="1">
                <a:sym typeface="+mn-ea"/>
              </a:rPr>
              <a:t>Feature Extraction Module</a:t>
            </a:r>
            <a:endParaRPr lang="en-US" altLang="en-US" sz="2000" b="1"/>
          </a:p>
          <a:p>
            <a:pPr marL="0" indent="0">
              <a:buNone/>
            </a:pPr>
            <a:r>
              <a:rPr lang="en-US" altLang="en-US" sz="2000">
                <a:sym typeface="+mn-ea"/>
              </a:rPr>
              <a:t>     Extracts important features from images using the trained model.</a:t>
            </a:r>
            <a:endParaRPr lang="en-US" altLang="en-US" sz="2000"/>
          </a:p>
          <a:p>
            <a:pPr marL="0" indent="0">
              <a:buNone/>
            </a:pPr>
            <a:r>
              <a:rPr lang="en-US" altLang="en-US" sz="2000" b="1">
                <a:sym typeface="+mn-ea"/>
              </a:rPr>
              <a:t>Prediction Module</a:t>
            </a:r>
            <a:endParaRPr lang="en-US" altLang="en-US" sz="2000" b="1"/>
          </a:p>
          <a:p>
            <a:pPr marL="0" indent="0">
              <a:buNone/>
            </a:pPr>
            <a:r>
              <a:rPr lang="en-US" altLang="en-US" sz="2000">
                <a:sym typeface="+mn-ea"/>
              </a:rPr>
              <a:t>     Predicts age, gender, and ethnicity for input images.</a:t>
            </a:r>
            <a:endParaRPr lang="en-US" altLang="en-US" sz="2000"/>
          </a:p>
          <a:p>
            <a:pPr marL="0" indent="0">
              <a:buNone/>
            </a:pPr>
            <a:r>
              <a:rPr lang="en-US" altLang="en-US" sz="2000" b="1">
                <a:sym typeface="+mn-ea"/>
              </a:rPr>
              <a:t>Output Module</a:t>
            </a:r>
            <a:endParaRPr lang="en-US" altLang="en-US" sz="2000" b="1"/>
          </a:p>
          <a:p>
            <a:pPr marL="0" indent="0">
              <a:buNone/>
            </a:pPr>
            <a:r>
              <a:rPr lang="en-US" altLang="en-US" sz="2000">
                <a:sym typeface="+mn-ea"/>
              </a:rPr>
              <a:t>     Displays the final predic</a:t>
            </a:r>
            <a:r>
              <a:rPr lang="en-US" altLang="en-US" sz="2400">
                <a:sym typeface="+mn-ea"/>
              </a:rPr>
              <a:t>ted results to the user.</a:t>
            </a:r>
            <a:endParaRPr lang="en-US" altLang="en-US" sz="2400">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sz="5400"/>
              <a:t>IMPLEMENTATION</a:t>
            </a:r>
            <a:endParaRPr lang="en-US" sz="5400"/>
          </a:p>
        </p:txBody>
      </p:sp>
      <p:sp>
        <p:nvSpPr>
          <p:cNvPr id="3" name="Content Placeholder 2"/>
          <p:cNvSpPr>
            <a:spLocks noGrp="1"/>
          </p:cNvSpPr>
          <p:nvPr>
            <p:ph idx="1"/>
          </p:nvPr>
        </p:nvSpPr>
        <p:spPr>
          <a:xfrm>
            <a:off x="252730" y="1823720"/>
            <a:ext cx="11357610" cy="4478655"/>
          </a:xfrm>
        </p:spPr>
        <p:txBody>
          <a:bodyPr>
            <a:normAutofit fontScale="25000"/>
          </a:bodyPr>
          <a:p>
            <a:pPr marL="0" indent="0">
              <a:buNone/>
            </a:pPr>
            <a:endParaRPr lang="en-US" altLang="en-US" sz="7200"/>
          </a:p>
          <a:p>
            <a:pPr marL="0" indent="0">
              <a:buNone/>
            </a:pPr>
            <a:endParaRPr lang="en-US" altLang="en-US" sz="7200"/>
          </a:p>
          <a:p>
            <a:pPr marL="0" indent="0">
              <a:buNone/>
            </a:pPr>
            <a:endParaRPr lang="en-US" altLang="en-US" sz="7200"/>
          </a:p>
          <a:p>
            <a:pPr marL="0" indent="0">
              <a:buNone/>
            </a:pPr>
            <a:r>
              <a:rPr lang="en-US" altLang="en-US" sz="7200"/>
              <a:t>import tensorflow as tf</a:t>
            </a:r>
            <a:endParaRPr lang="en-US" altLang="en-US" sz="7200"/>
          </a:p>
          <a:p>
            <a:pPr marL="0" indent="0">
              <a:buNone/>
            </a:pPr>
            <a:r>
              <a:rPr lang="en-US" altLang="en-US" sz="7200"/>
              <a:t>import cv2</a:t>
            </a:r>
            <a:endParaRPr lang="en-US" altLang="en-US" sz="7200"/>
          </a:p>
          <a:p>
            <a:pPr marL="0" indent="0">
              <a:buNone/>
            </a:pPr>
            <a:r>
              <a:rPr lang="en-US" altLang="en-US" sz="7200"/>
              <a:t>import os</a:t>
            </a:r>
            <a:endParaRPr lang="en-US" altLang="en-US" sz="7200"/>
          </a:p>
          <a:p>
            <a:pPr marL="0" indent="0">
              <a:buNone/>
            </a:pPr>
            <a:r>
              <a:rPr lang="en-US" altLang="en-US" sz="7200"/>
              <a:t>import glob</a:t>
            </a:r>
            <a:endParaRPr lang="en-US" altLang="en-US" sz="7200"/>
          </a:p>
          <a:p>
            <a:pPr marL="0" indent="0">
              <a:buNone/>
            </a:pPr>
            <a:r>
              <a:rPr lang="en-US" altLang="en-US" sz="7200"/>
              <a:t>import sys</a:t>
            </a:r>
            <a:endParaRPr lang="en-US" altLang="en-US" sz="7200"/>
          </a:p>
          <a:p>
            <a:pPr marL="0" indent="0">
              <a:buNone/>
            </a:pPr>
            <a:r>
              <a:rPr lang="en-US" altLang="en-US" sz="7200"/>
              <a:t>import numpy as np</a:t>
            </a:r>
            <a:endParaRPr lang="en-US" altLang="en-US" sz="7200"/>
          </a:p>
          <a:p>
            <a:pPr marL="0" indent="0">
              <a:buNone/>
            </a:pPr>
            <a:r>
              <a:rPr lang="en-US" altLang="en-US" sz="7200"/>
              <a:t>import pandas as pd</a:t>
            </a:r>
            <a:endParaRPr lang="en-US" altLang="en-US" sz="7200"/>
          </a:p>
          <a:p>
            <a:pPr marL="0" indent="0">
              <a:buNone/>
            </a:pPr>
            <a:r>
              <a:rPr lang="en-US" altLang="en-US" sz="7200"/>
              <a:t>import matplotlib.pyplot as plt</a:t>
            </a:r>
            <a:endParaRPr lang="en-US" altLang="en-US" sz="7200"/>
          </a:p>
          <a:p>
            <a:pPr marL="0" indent="0">
              <a:buNone/>
            </a:pPr>
            <a:r>
              <a:rPr lang="en-US" altLang="en-US" sz="7200"/>
              <a:t>from matplotlib.patches import Rectangle</a:t>
            </a:r>
            <a:endParaRPr lang="en-US" altLang="en-US" sz="7200"/>
          </a:p>
          <a:p>
            <a:pPr marL="0" indent="0">
              <a:buNone/>
            </a:pPr>
            <a:r>
              <a:rPr lang="en-US" altLang="en-US" sz="7200"/>
              <a:t>from matplotlib.patches import Circle</a:t>
            </a:r>
            <a:endParaRPr lang="en-US" altLang="en-US" sz="7200"/>
          </a:p>
          <a:p>
            <a:pPr marL="0" indent="0">
              <a:buNone/>
            </a:pPr>
            <a:r>
              <a:rPr lang="en-US" altLang="en-US" sz="7200"/>
              <a:t>from sklearn.model_selection import train_test_split</a:t>
            </a:r>
            <a:endParaRPr lang="en-US" altLang="en-US" sz="7200"/>
          </a:p>
          <a:p>
            <a:pPr marL="0" indent="0">
              <a:buNone/>
            </a:pPr>
            <a:endParaRPr lang="en-US" altLang="en-US" sz="7200"/>
          </a:p>
          <a:p>
            <a:pPr marL="0" indent="0">
              <a:buNone/>
            </a:pPr>
            <a:endParaRPr lang="en-US" altLang="en-US" sz="7200"/>
          </a:p>
          <a:p>
            <a:pPr marL="0" indent="0">
              <a:buNone/>
            </a:pPr>
            <a:endParaRPr lang="en-US" altLang="en-US" sz="72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581025" y="2296160"/>
            <a:ext cx="11029315" cy="4314825"/>
          </a:xfrm>
        </p:spPr>
        <p:txBody>
          <a:bodyPr>
            <a:noAutofit/>
          </a:bodyPr>
          <a:p>
            <a:pPr marL="0" indent="0">
              <a:buNone/>
            </a:pPr>
            <a:r>
              <a:rPr lang="en-US" altLang="en-US">
                <a:sym typeface="+mn-ea"/>
              </a:rPr>
              <a:t>from PIL import Image</a:t>
            </a:r>
            <a:endParaRPr lang="en-US" altLang="en-US"/>
          </a:p>
          <a:p>
            <a:pPr marL="0" indent="0">
              <a:buNone/>
            </a:pPr>
            <a:r>
              <a:rPr lang="en-US" altLang="en-US">
                <a:sym typeface="+mn-ea"/>
              </a:rPr>
              <a:t>import random</a:t>
            </a:r>
            <a:endParaRPr lang="en-US" altLang="en-US"/>
          </a:p>
          <a:p>
            <a:pPr marL="0" indent="0">
              <a:buNone/>
            </a:pPr>
            <a:r>
              <a:rPr lang="en-US" altLang="en-US">
                <a:sym typeface="+mn-ea"/>
              </a:rPr>
              <a:t>import tensorflow.keras.backend as K</a:t>
            </a:r>
            <a:endParaRPr lang="en-US" altLang="en-US"/>
          </a:p>
          <a:p>
            <a:pPr marL="0" indent="0">
              <a:buNone/>
            </a:pPr>
            <a:r>
              <a:rPr lang="en-US" altLang="en-US">
                <a:sym typeface="+mn-ea"/>
              </a:rPr>
              <a:t>from tensorflow.keras.layers import Input</a:t>
            </a:r>
            <a:endParaRPr lang="en-US" altLang="en-US"/>
          </a:p>
          <a:p>
            <a:pPr marL="0" indent="0">
              <a:buNone/>
            </a:pPr>
            <a:r>
              <a:rPr lang="en-US" altLang="en-US">
                <a:sym typeface="+mn-ea"/>
              </a:rPr>
              <a:t>from tensorflow.keras.models import load_model</a:t>
            </a:r>
            <a:endParaRPr lang="en-US" altLang="en-US"/>
          </a:p>
          <a:p>
            <a:pPr marL="0" indent="0">
              <a:buNone/>
            </a:pPr>
            <a:r>
              <a:rPr lang="en-US" altLang="en-US">
                <a:sym typeface="+mn-ea"/>
              </a:rPr>
              <a:t>from tensorflow.keras.layers import Conv2D,MaxPooling2D, Flatten, Dense, Dropout, BatchNormalization</a:t>
            </a:r>
            <a:endParaRPr lang="en-US" altLang="en-US"/>
          </a:p>
          <a:p>
            <a:pPr marL="0" indent="0">
              <a:buNone/>
            </a:pPr>
            <a:r>
              <a:rPr lang="en-US" altLang="en-US">
                <a:sym typeface="+mn-ea"/>
              </a:rPr>
              <a:t>from tensorflow.keras.callbacks import ModelCheckpoint, EarlyStopping, ReduceLROnPlateau</a:t>
            </a:r>
            <a:endParaRPr lang="en-US" altLang="en-US"/>
          </a:p>
          <a:p>
            <a:pPr marL="0" indent="0">
              <a:buNone/>
            </a:pPr>
            <a:r>
              <a:rPr lang="en-US" altLang="en-US">
                <a:sym typeface="+mn-ea"/>
              </a:rPr>
              <a:t>from tensorflow.keras.optimizers import Adam</a:t>
            </a:r>
            <a:endParaRPr lang="en-US" altLang="en-US"/>
          </a:p>
          <a:p>
            <a:pPr marL="0" indent="0">
              <a:buNone/>
            </a:pPr>
            <a:r>
              <a:rPr lang="en-US" altLang="en-US">
                <a:sym typeface="+mn-ea"/>
              </a:rPr>
              <a:t>from tensorflow.keras.models import Model</a:t>
            </a:r>
            <a:endParaRPr lang="en-US" altLang="en-US"/>
          </a:p>
          <a:p>
            <a:pPr marL="0" indent="0">
              <a:buNone/>
            </a:pPr>
            <a:r>
              <a:rPr lang="en-US" altLang="en-US">
                <a:sym typeface="+mn-ea"/>
              </a:rPr>
              <a:t>from tensorflow.keras.utils import plot_model</a:t>
            </a:r>
            <a:endParaRPr lang="en-US" altLang="en-US"/>
          </a:p>
          <a:p>
            <a:pPr marL="0" indent="0">
              <a:buNone/>
            </a:pPr>
            <a:r>
              <a:rPr lang="en-US" altLang="en-US">
                <a:sym typeface="+mn-ea"/>
              </a:rPr>
              <a:t>import seaborn as sns</a:t>
            </a:r>
            <a:endParaRPr lang="en-US" altLang="en-US"/>
          </a:p>
          <a:p>
            <a:pPr marL="0" indent="0">
              <a:buNone/>
            </a:pPr>
            <a:r>
              <a:rPr lang="en-US" altLang="en-US">
                <a:sym typeface="+mn-ea"/>
              </a:rPr>
              <a:t>from sklearn.metrics import confusion_matrix</a:t>
            </a:r>
            <a:endParaRPr lang="en-US" altLang="en-US"/>
          </a:p>
          <a:p>
            <a:endParaRPr lang="en-US" alt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IN" sz="5400" dirty="0"/>
              <a:t>IMPLEMENTATION</a:t>
            </a:r>
            <a:endParaRPr lang="en-US" altLang="en-IN" sz="5400" dirty="0"/>
          </a:p>
        </p:txBody>
      </p:sp>
      <p:sp>
        <p:nvSpPr>
          <p:cNvPr id="4" name="Content Placeholder 2"/>
          <p:cNvSpPr txBox="1">
            <a:spLocks noGrp="1"/>
          </p:cNvSpPr>
          <p:nvPr>
            <p:ph idx="1"/>
          </p:nvPr>
        </p:nvSpPr>
        <p:spPr>
          <a:xfrm>
            <a:off x="581025" y="1957137"/>
            <a:ext cx="11177838" cy="4507831"/>
          </a:xfrm>
          <a:prstGeom prst="rect">
            <a:avLst/>
          </a:prstGeom>
        </p:spPr>
        <p:txBody>
          <a:bodyPr vert="horz" lIns="91440" tIns="45720" rIns="91440" bIns="45720" rtlCol="0" anchor="ctr">
            <a:noAutofit/>
          </a:bodyPr>
          <a:lstStyle>
            <a:lvl1pPr marL="30607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2992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899795" indent="-26987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60" indent="-23431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105" indent="-23431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27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altLang="en-US" sz="2200">
                <a:sym typeface="+mn-ea"/>
              </a:rPr>
              <a:t>Programming Language: Python</a:t>
            </a:r>
            <a:endParaRPr lang="en-US" altLang="en-US" sz="2200"/>
          </a:p>
          <a:p>
            <a:r>
              <a:rPr lang="en-US" altLang="en-US" sz="2200">
                <a:sym typeface="+mn-ea"/>
              </a:rPr>
              <a:t>Libraries: TensorFlow / Keras / PyTorch</a:t>
            </a:r>
            <a:endParaRPr lang="en-US" altLang="en-US" sz="2200"/>
          </a:p>
          <a:p>
            <a:r>
              <a:rPr lang="en-US" altLang="en-US" sz="2200">
                <a:sym typeface="+mn-ea"/>
              </a:rPr>
              <a:t>Image Processing Tool: OpenCV</a:t>
            </a:r>
            <a:endParaRPr lang="en-US" altLang="en-US" sz="2200"/>
          </a:p>
          <a:p>
            <a:r>
              <a:rPr lang="en-US" altLang="en-US" sz="2200">
                <a:sym typeface="+mn-ea"/>
              </a:rPr>
              <a:t>Dataset: Facial image dataset (with age, gender, ethnicity labels)</a:t>
            </a:r>
            <a:endParaRPr lang="en-US" altLang="en-US" sz="2200"/>
          </a:p>
          <a:p>
            <a:r>
              <a:rPr lang="en-US" altLang="en-US" sz="2200">
                <a:sym typeface="+mn-ea"/>
              </a:rPr>
              <a:t>Model: Convolutional Neural Network (CNN)</a:t>
            </a:r>
            <a:endParaRPr lang="en-US" altLang="en-US" sz="2200"/>
          </a:p>
          <a:p>
            <a:r>
              <a:rPr lang="en-US" altLang="en-US" sz="2200">
                <a:sym typeface="+mn-ea"/>
              </a:rPr>
              <a:t>Preprocessing: Resizing, normalization, face detection</a:t>
            </a:r>
            <a:endParaRPr lang="en-US" altLang="en-US" sz="2200"/>
          </a:p>
          <a:p>
            <a:r>
              <a:rPr lang="en-US" altLang="en-US" sz="2200">
                <a:sym typeface="+mn-ea"/>
              </a:rPr>
              <a:t>Training: Model trained on multiple images</a:t>
            </a:r>
            <a:endParaRPr lang="en-US" altLang="en-US" sz="2200"/>
          </a:p>
          <a:p>
            <a:r>
              <a:rPr lang="en-US" altLang="en-US" sz="2200">
                <a:sym typeface="+mn-ea"/>
              </a:rPr>
              <a:t>Testing: Images given one by one for prediction</a:t>
            </a:r>
            <a:endParaRPr lang="en-US" altLang="en-US" sz="2200"/>
          </a:p>
          <a:p>
            <a:r>
              <a:rPr lang="en-US" altLang="en-US" sz="2200">
                <a:sym typeface="+mn-ea"/>
              </a:rPr>
              <a:t>Output: Age, Gender, Ethnicity prediction</a:t>
            </a:r>
            <a:endParaRPr lang="en-US" altLang="en-US" sz="2200"/>
          </a:p>
          <a:p>
            <a:r>
              <a:rPr lang="en-US" altLang="en-US" sz="2200">
                <a:sym typeface="+mn-ea"/>
              </a:rPr>
              <a:t>Based on Artificial Intelligence and Computer Vision</a:t>
            </a:r>
            <a:endParaRPr lang="en-US" altLang="en-US" sz="1500" dirty="0">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IN" sz="5400" dirty="0"/>
              <a:t>SCREENSHOTS(OUTPUT)</a:t>
            </a:r>
            <a:endParaRPr lang="en-US" altLang="en-IN" sz="5400" dirty="0"/>
          </a:p>
        </p:txBody>
      </p:sp>
      <p:pic>
        <p:nvPicPr>
          <p:cNvPr id="5" name="Picture 4" descr="Screenshot (58)"/>
          <p:cNvPicPr>
            <a:picLocks noChangeAspect="1"/>
          </p:cNvPicPr>
          <p:nvPr/>
        </p:nvPicPr>
        <p:blipFill>
          <a:blip r:embed="rId1"/>
          <a:stretch>
            <a:fillRect/>
          </a:stretch>
        </p:blipFill>
        <p:spPr>
          <a:xfrm>
            <a:off x="946785" y="2022475"/>
            <a:ext cx="9441815" cy="465074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Picture 4" descr="Screenshot (62)"/>
          <p:cNvPicPr>
            <a:picLocks noChangeAspect="1"/>
          </p:cNvPicPr>
          <p:nvPr/>
        </p:nvPicPr>
        <p:blipFill>
          <a:blip r:embed="rId1"/>
          <a:stretch>
            <a:fillRect/>
          </a:stretch>
        </p:blipFill>
        <p:spPr>
          <a:xfrm>
            <a:off x="1439545" y="2180590"/>
            <a:ext cx="8847455" cy="437705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sz="5400"/>
              <a:t>TESTING</a:t>
            </a:r>
            <a:endParaRPr lang="en-US" sz="5400"/>
          </a:p>
        </p:txBody>
      </p:sp>
      <p:sp>
        <p:nvSpPr>
          <p:cNvPr id="3" name="Content Placeholder 2"/>
          <p:cNvSpPr>
            <a:spLocks noGrp="1"/>
          </p:cNvSpPr>
          <p:nvPr>
            <p:ph idx="1"/>
          </p:nvPr>
        </p:nvSpPr>
        <p:spPr/>
        <p:txBody>
          <a:bodyPr>
            <a:normAutofit fontScale="90000"/>
          </a:bodyPr>
          <a:p>
            <a:pPr marL="0" indent="0" algn="l" fontAlgn="base">
              <a:buNone/>
            </a:pPr>
            <a:endParaRPr lang="en-US" altLang="en-US"/>
          </a:p>
          <a:p>
            <a:r>
              <a:rPr lang="en-US" altLang="en-US" sz="2800">
                <a:solidFill>
                  <a:srgbClr val="000000"/>
                </a:solidFill>
                <a:ea typeface="SimSun" panose="02010600030101010101" pitchFamily="2" charset="-122"/>
                <a:cs typeface="+mn-lt"/>
                <a:sym typeface="+mn-ea"/>
              </a:rPr>
              <a:t>The system is tested by providing facial images as input to evaluate its performance in predicting age, gender, and ethnicity. Each image is preprocessed and passed through the trained model, and the predicted results are compared with actual values to check accuracy. Different images with variations in lighting, pose, and quality are used to ensure reliability. The testing process, based on Artificial Intelligence and Computer Vision, helps in identifying errors and improving the overall performance of the system.</a:t>
            </a:r>
            <a:endParaRPr lang="en-US" altLang="en-US" sz="2800">
              <a:cs typeface="+mn-lt"/>
            </a:endParaRPr>
          </a:p>
          <a:p>
            <a:endParaRPr lang="en-US" altLang="en-US" sz="2800"/>
          </a:p>
          <a:p>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p:txBody>
          <a:bodyPr/>
          <a:p>
            <a:pPr marL="0" indent="0">
              <a:buNone/>
            </a:pPr>
            <a:r>
              <a:rPr lang="en-US" altLang="en-US" sz="2800" b="1"/>
              <a:t>Types of Testing Used</a:t>
            </a:r>
            <a:endParaRPr lang="en-US" altLang="en-US" sz="2800" b="1"/>
          </a:p>
          <a:p>
            <a:r>
              <a:rPr lang="en-US" altLang="en-US" sz="2400"/>
              <a:t>Unit Testing – Testing individual modules like preprocessing and prediction</a:t>
            </a:r>
            <a:endParaRPr lang="en-US" altLang="en-US" sz="2400"/>
          </a:p>
          <a:p>
            <a:r>
              <a:rPr lang="en-US" altLang="en-US" sz="2400"/>
              <a:t>Integration Testing – Checking how all modules work together</a:t>
            </a:r>
            <a:endParaRPr lang="en-US" altLang="en-US" sz="2400"/>
          </a:p>
          <a:p>
            <a:r>
              <a:rPr lang="en-US" altLang="en-US" sz="2400"/>
              <a:t>Performance Testing – Evaluating accuracy and speed of the model</a:t>
            </a:r>
            <a:endParaRPr lang="en-US" altLang="en-US" sz="2400"/>
          </a:p>
          <a:p>
            <a:r>
              <a:rPr lang="en-US" altLang="en-US" sz="2400"/>
              <a:t>Validation Testing – Comparing predicted results with actual data</a:t>
            </a:r>
            <a:endParaRPr lang="en-US" altLang="en-US" sz="24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sz="5400"/>
              <a:t>CONCLUSION</a:t>
            </a:r>
            <a:endParaRPr lang="en-US" sz="5400"/>
          </a:p>
        </p:txBody>
      </p:sp>
      <p:sp>
        <p:nvSpPr>
          <p:cNvPr id="3" name="Content Placeholder 2"/>
          <p:cNvSpPr>
            <a:spLocks noGrp="1"/>
          </p:cNvSpPr>
          <p:nvPr>
            <p:ph idx="1"/>
          </p:nvPr>
        </p:nvSpPr>
        <p:spPr/>
        <p:txBody>
          <a:bodyPr/>
          <a:p>
            <a:r>
              <a:rPr lang="en-US" altLang="en-US" sz="2800">
                <a:sym typeface="+mn-ea"/>
              </a:rPr>
              <a:t>The project successfully demonstrates the use of Artificial Intelligence and Computer Vision in predicting age, gender, and ethnicity from facial images. By using deep learning techniques, the system is able to analyze facial features and provide accurate predictions. Although the model performs well, challenges such as data bias and image quality can affect results. Overall, the project highlights the effectiveness and real-world applications of automated demographic prediction systems.</a:t>
            </a:r>
            <a:endParaRPr lang="en-US" altLang="en-US" sz="2800"/>
          </a:p>
          <a:p>
            <a:pPr marL="0" indent="0">
              <a:buNone/>
            </a:pPr>
            <a:endParaRPr lang="en-US" sz="28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54927" y="1848376"/>
            <a:ext cx="6082146" cy="1323439"/>
          </a:xfrm>
          <a:prstGeom prst="rect">
            <a:avLst/>
          </a:prstGeom>
          <a:noFill/>
        </p:spPr>
        <p:txBody>
          <a:bodyPr wrap="square" rtlCol="0">
            <a:spAutoFit/>
          </a:bodyPr>
          <a:lstStyle/>
          <a:p>
            <a:pPr algn="ctr"/>
            <a:r>
              <a:rPr lang="en-US" sz="8000" dirty="0">
                <a:solidFill>
                  <a:schemeClr val="accent1">
                    <a:lumMod val="75000"/>
                  </a:schemeClr>
                </a:solidFill>
              </a:rPr>
              <a:t>THANK YOU</a:t>
            </a:r>
            <a:endParaRPr lang="en-IN" sz="8000" dirty="0">
              <a:solidFill>
                <a:schemeClr val="accent1">
                  <a:lumMod val="75000"/>
                </a:schemeClr>
              </a:solidFill>
            </a:endParaRPr>
          </a:p>
        </p:txBody>
      </p:sp>
      <p:sp>
        <p:nvSpPr>
          <p:cNvPr id="3" name="TextBox 2"/>
          <p:cNvSpPr txBox="1"/>
          <p:nvPr/>
        </p:nvSpPr>
        <p:spPr>
          <a:xfrm>
            <a:off x="3054927" y="3162966"/>
            <a:ext cx="6082146" cy="523220"/>
          </a:xfrm>
          <a:prstGeom prst="rect">
            <a:avLst/>
          </a:prstGeom>
          <a:noFill/>
        </p:spPr>
        <p:txBody>
          <a:bodyPr wrap="square" rtlCol="0">
            <a:spAutoFit/>
          </a:bodyPr>
          <a:lstStyle/>
          <a:p>
            <a:pPr algn="ctr"/>
            <a:r>
              <a:rPr lang="en-US" sz="2800" dirty="0">
                <a:solidFill>
                  <a:schemeClr val="tx1">
                    <a:lumMod val="75000"/>
                    <a:lumOff val="25000"/>
                  </a:schemeClr>
                </a:solidFill>
              </a:rPr>
              <a:t>PRESENTED BY</a:t>
            </a:r>
            <a:endParaRPr lang="en-US" sz="2800" dirty="0">
              <a:solidFill>
                <a:schemeClr val="tx1">
                  <a:lumMod val="75000"/>
                  <a:lumOff val="25000"/>
                </a:schemeClr>
              </a:solidFill>
            </a:endParaRPr>
          </a:p>
        </p:txBody>
      </p:sp>
      <p:sp>
        <p:nvSpPr>
          <p:cNvPr id="4" name="TextBox 3"/>
          <p:cNvSpPr txBox="1"/>
          <p:nvPr/>
        </p:nvSpPr>
        <p:spPr>
          <a:xfrm>
            <a:off x="3870325" y="3686186"/>
            <a:ext cx="4451350" cy="2306955"/>
          </a:xfrm>
          <a:prstGeom prst="rect">
            <a:avLst/>
          </a:prstGeom>
          <a:noFill/>
        </p:spPr>
        <p:txBody>
          <a:bodyPr wrap="none" rtlCol="0">
            <a:spAutoFit/>
          </a:bodyPr>
          <a:lstStyle/>
          <a:p>
            <a:pPr algn="l"/>
            <a:r>
              <a:rPr lang="en-US" sz="2400" dirty="0"/>
              <a:t>B.MYTHILI – 23R01A05K7</a:t>
            </a:r>
            <a:endParaRPr lang="en-US" sz="2400" dirty="0"/>
          </a:p>
          <a:p>
            <a:pPr algn="l"/>
            <a:r>
              <a:rPr lang="en-US" sz="2400" dirty="0"/>
              <a:t>B.JYOSTNA PRIYA – 23R01A05L2</a:t>
            </a:r>
            <a:endParaRPr lang="en-US" sz="2400" dirty="0"/>
          </a:p>
          <a:p>
            <a:pPr algn="l"/>
            <a:r>
              <a:rPr lang="en-US" sz="2400" dirty="0"/>
              <a:t>M.SADGUNA – 23R01A05P1</a:t>
            </a:r>
            <a:endParaRPr lang="en-US" sz="2400" dirty="0"/>
          </a:p>
          <a:p>
            <a:pPr algn="ctr"/>
            <a:endParaRPr lang="en-US" sz="2400" dirty="0"/>
          </a:p>
          <a:p>
            <a:pPr algn="ctr"/>
            <a:r>
              <a:rPr lang="en-US" sz="2400" dirty="0"/>
              <a:t>UNDER THE GUIDANCE OF</a:t>
            </a:r>
            <a:endParaRPr lang="en-US" sz="2400" dirty="0"/>
          </a:p>
          <a:p>
            <a:pPr algn="ctr"/>
            <a:r>
              <a:rPr lang="en-US" sz="2400" dirty="0"/>
              <a:t>Mrs. A. TEJASWI</a:t>
            </a:r>
            <a:endParaRPr lang="en-IN" sz="2400" dirty="0"/>
          </a:p>
        </p:txBody>
      </p:sp>
    </p:spTree>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65359"/>
      </a:accent1>
      <a:accent2>
        <a:srgbClr val="ED8428"/>
      </a:accent2>
      <a:accent3>
        <a:srgbClr val="E6C46D"/>
      </a:accent3>
      <a:accent4>
        <a:srgbClr val="969FA7"/>
      </a:accent4>
      <a:accent5>
        <a:srgbClr val="A9C37C"/>
      </a:accent5>
      <a:accent6>
        <a:srgbClr val="5A8071"/>
      </a:accent6>
      <a:hlink>
        <a:srgbClr val="828282"/>
      </a:hlink>
      <a:folHlink>
        <a:srgbClr val="A5A5A5"/>
      </a:folHlink>
    </a:clrScheme>
    <a:fontScheme name="Dividend">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TM03457464[[fn=Dividend]]</Template>
  <TotalTime>0</TotalTime>
  <Words>7192</Words>
  <Application>WPS Presentation</Application>
  <PresentationFormat>Widescreen</PresentationFormat>
  <Paragraphs>177</Paragraphs>
  <Slides>22</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22</vt:i4>
      </vt:variant>
    </vt:vector>
  </HeadingPairs>
  <TitlesOfParts>
    <vt:vector size="32" baseType="lpstr">
      <vt:lpstr>Arial</vt:lpstr>
      <vt:lpstr>SimSun</vt:lpstr>
      <vt:lpstr>Wingdings</vt:lpstr>
      <vt:lpstr>Wingdings 2</vt:lpstr>
      <vt:lpstr>Wingdings</vt:lpstr>
      <vt:lpstr>Gill Sans MT</vt:lpstr>
      <vt:lpstr>Microsoft YaHei</vt:lpstr>
      <vt:lpstr>Arial Unicode MS</vt:lpstr>
      <vt:lpstr>Calibri</vt:lpstr>
      <vt:lpstr>Dividend</vt:lpstr>
      <vt:lpstr>Age gender and ethnicity prediction</vt:lpstr>
      <vt:lpstr>CONTENTS</vt:lpstr>
      <vt:lpstr>ABSTRACT</vt:lpstr>
      <vt:lpstr>INTRODUCTION</vt:lpstr>
      <vt:lpstr>LITERATURE SURVEY</vt:lpstr>
      <vt:lpstr>SYSTEM ANALYSIS</vt:lpstr>
      <vt:lpstr>PowerPoint 演示文稿</vt:lpstr>
      <vt:lpstr> SYSTEM STUDY</vt:lpstr>
      <vt:lpstr>HARDWARE AND SOFTWARE REQUIREMENTS</vt:lpstr>
      <vt:lpstr>PowerPoint 演示文稿</vt:lpstr>
      <vt:lpstr>ARCHITECTURE DIAGRAM</vt:lpstr>
      <vt:lpstr>PowerPoint 演示文稿</vt:lpstr>
      <vt:lpstr>MODULES</vt:lpstr>
      <vt:lpstr>IMPLEMENTATION</vt:lpstr>
      <vt:lpstr>PowerPoint 演示文稿</vt:lpstr>
      <vt:lpstr>IMPLEMENTATION</vt:lpstr>
      <vt:lpstr>SCREENSHOTS(OUTPUT)</vt:lpstr>
      <vt:lpstr>PowerPoint 演示文稿</vt:lpstr>
      <vt:lpstr>TESTING</vt:lpstr>
      <vt:lpstr>PowerPoint 演示文稿</vt:lpstr>
      <vt:lpstr>CONCLUSION</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dhanyata biyyapu</dc:creator>
  <cp:lastModifiedBy>joshna</cp:lastModifiedBy>
  <cp:revision>12</cp:revision>
  <dcterms:created xsi:type="dcterms:W3CDTF">2026-03-13T13:45:00Z</dcterms:created>
  <dcterms:modified xsi:type="dcterms:W3CDTF">2026-03-23T16:52:03Z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94D67B3EAAE34DC1B0A8C8B832CCE8E4_13</vt:lpwstr>
  </property>
  <property fmtid="{D5CDD505-2E9C-101B-9397-08002B2CF9AE}" pid="3" name="KSOProductBuildVer">
    <vt:lpwstr>1033-12.1.0.25242</vt:lpwstr>
  </property>
</Properties>
</file>